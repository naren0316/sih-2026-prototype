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page. Add the Team ID once the portal allots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Problem, idea, proposed solution and uniqueness. Centre images are screenshots of the working prototype.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Technical approach. Replace the GitHub / Pages / YouTube placeholders with your real links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Feasibility, commercial viability, the real risks judges probe, and our mitigations.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 on each stakeholder group, economic and strategic benefits, and national-mission alignment.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grounding, benchmarking against alternatives, technology validation and prototype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sih_emblem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6537960" y="960120"/>
            <a:ext cx="3977640" cy="46817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64592"/>
            <a:ext cx="90525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300" dirty="0"/>
          </a:p>
        </p:txBody>
      </p:sp>
      <p:pic>
        <p:nvPicPr>
          <p:cNvPr id="4" name="Image 1" descr="/tmp/sih2026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109728"/>
            <a:ext cx="2157984" cy="996696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2194560" y="1225296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2700" dirty="0"/>
          </a:p>
        </p:txBody>
      </p:sp>
      <p:sp>
        <p:nvSpPr>
          <p:cNvPr id="6" name="Text 2"/>
          <p:cNvSpPr txBox="1"/>
          <p:nvPr/>
        </p:nvSpPr>
        <p:spPr>
          <a:xfrm>
            <a:off x="502920" y="20116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ID -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SIH26204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267004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 Title -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Innovation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332841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Theme -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Travel &amp; Tourism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502920" y="398678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PS Category -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Software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502920" y="464515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ID -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(to be allotted)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502920" y="53035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  </a:t>
            </a:r>
            <a:pPr indent="0" marL="0">
              <a:buNone/>
            </a:pPr>
            <a:r>
              <a:rPr lang="en-US" sz="17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Name – </a:t>
            </a:r>
            <a:pPr indent="0" marL="0">
              <a:buNone/>
            </a:pPr>
            <a:r>
              <a:rPr lang="en-US" sz="17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SafarMitra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91440"/>
            <a:ext cx="1700784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9144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SafarMitra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5486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700" b="1" i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TransitMitra: Offline-First Travel Safety &amp; Mobility Mesh for Network Dead Zones</a:t>
            </a:r>
            <a:endParaRPr lang="en-US" sz="1700" dirty="0"/>
          </a:p>
        </p:txBody>
      </p:sp>
      <p:pic>
        <p:nvPicPr>
          <p:cNvPr id="5" name="Image 0" descr="/tmp/sih2026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54864"/>
            <a:ext cx="1883664" cy="873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05256"/>
            <a:ext cx="12188952" cy="0"/>
          </a:xfrm>
          <a:prstGeom prst="line">
            <a:avLst/>
          </a:prstGeom>
          <a:noFill/>
          <a:ln w="19050">
            <a:solidFill>
              <a:srgbClr val="8EAA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9456" y="969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9456" y="1316736"/>
            <a:ext cx="54864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Remote tourist belts suffer a </a:t>
            </a:r>
            <a:pPr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connectivity blackout</a:t>
            </a:r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— no network means no maps and no way to call for help; unmapped jeeps and autos </a:t>
            </a:r>
            <a:pPr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overcharge tourists</a:t>
            </a:r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; and a language barrier blocks asking locals. Travellers avoid these places, so rural hotels, homestays and transport operators </a:t>
            </a:r>
            <a:pPr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lose their income.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870448" y="941832"/>
            <a:ext cx="0" cy="146304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3328" y="969264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Idea :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53328" y="1316736"/>
            <a:ext cx="58978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TransitMitra</a:t>
            </a:r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is an </a:t>
            </a:r>
            <a:pPr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offline-first travel companion</a:t>
            </a:r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works with zero internet, no SIM and no new telecom towers. Hotels become trusted data kiosks, and ordinary buses and jeeps become </a:t>
            </a:r>
            <a:pPr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moving data carriers</a:t>
            </a:r>
            <a:pPr indent="0" marL="0">
              <a:lnSpc>
                <a:spcPct val="96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that carry emergency signals out of dead zones.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0" y="2450592"/>
            <a:ext cx="12188952" cy="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9456" y="252374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: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" y="2871216"/>
            <a:ext cx="3977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 “Mitra Kiosk” sync — on check-in the hotel device pushes the regional transit map, verified fares and emergency directory to the guest phone over Wi-Fi Direct / BLE.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transit &amp; fares — hotel-verified routes, timings and fixed fares for buses, shared jeeps and autos, ending tourist overcharging.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Store-and-forward SOS — in dead zones a signed beacon hops phone-to-phone and rides a passing bus until it reaches network, then auto-alerts authorities with GPS.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Offline language help — regional phrasebook with on-device text-to-speech.</a:t>
            </a:r>
            <a:endParaRPr lang="en-US" sz="1150" dirty="0"/>
          </a:p>
        </p:txBody>
      </p:sp>
      <p:pic>
        <p:nvPicPr>
          <p:cNvPr id="17" name="Image 1" descr="/tmp/crop_pho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3984" y="2615184"/>
            <a:ext cx="1865376" cy="3419856"/>
          </a:xfrm>
          <a:prstGeom prst="rect">
            <a:avLst/>
          </a:prstGeom>
        </p:spPr>
      </p:pic>
      <p:pic>
        <p:nvPicPr>
          <p:cNvPr id="18" name="Image 2" descr="/tmp/crop_fare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615184"/>
            <a:ext cx="1865376" cy="34198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389120" y="608990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 — offline fare lookup &amp; SOS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8458200" y="2523744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Innovation/Uniqueness: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458200" y="2871216"/>
            <a:ext cx="35204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“Mitra Carrier” — scheduled buses &amp; jeeps act as data mules, so an SOS leaves the valley on a predictable backbone, not by luck.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Hospitality becomes the network — hotels are static data nodes; no new telecom infrastructure needed.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One mesh, three jobs — SOS carrier, live fare/timing source and moving relay.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Delay-Tolerant design works where every other travel app goes dark.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91440"/>
            <a:ext cx="1700784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9144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SafarMitra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5486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600" dirty="0"/>
          </a:p>
        </p:txBody>
      </p:sp>
      <p:pic>
        <p:nvPicPr>
          <p:cNvPr id="5" name="Image 0" descr="/tmp/sih2026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54864"/>
            <a:ext cx="1883664" cy="873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05256"/>
            <a:ext cx="12188952" cy="0"/>
          </a:xfrm>
          <a:prstGeom prst="line">
            <a:avLst/>
          </a:prstGeom>
          <a:noFill/>
          <a:ln w="19050">
            <a:solidFill>
              <a:srgbClr val="8EAA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9456" y="9692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9456" y="1335024"/>
            <a:ext cx="361188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Languages: Dart, Kotlin, Java, Python, C/C++, SQL.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Mobile: Flutter / Android native (entry-level Android supported).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P2P transport: Google Nearby Connections, Wi-Fi Aware / Wi-Fi Direct, BLE advertising.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range: LoRa / Meshtastic relay nodes (₹300–500 each, km range).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Data: SQLite, CRDT conflict-free offline merge, DTN store-and-forward (RFC 5050).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 / voice: TensorFlow Lite, on-device text-to-speech for offline phrasebook.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Security: AES-signed, rate-limited SOS beacons; hotel-verified fare records.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Prototype: self-contained HTML/CSS/JS demo console, runs fully offline.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968496" y="941832"/>
            <a:ext cx="0" cy="461772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133088" y="9692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CHART</a:t>
            </a:r>
            <a:endParaRPr lang="en-US" sz="1500" dirty="0"/>
          </a:p>
        </p:txBody>
      </p:sp>
      <p:pic>
        <p:nvPicPr>
          <p:cNvPr id="13" name="Image 1" descr="/tmp/crop_rel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088" y="1335024"/>
            <a:ext cx="7818120" cy="338328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133088" y="4736592"/>
            <a:ext cx="7818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Store-and-forward SOS relay — beacon escapes the dead zone by physically travelling out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0" y="5047488"/>
            <a:ext cx="12188952" cy="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219456" y="51206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219456" y="5449824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Sync at hotel kiosk → offline data on phone.</a:t>
            </a:r>
            <a:endParaRPr lang="en-US" sz="10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Beacon created offline → BLE peer hop → Mitra Carrier → cellular edge → authorities.</a:t>
            </a:r>
            <a:endParaRPr lang="en-US" sz="10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Pilot 1 circuit → add LoRa relays → scale via State Tourism departments.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206240" y="5138928"/>
            <a:ext cx="7744968" cy="1280160"/>
          </a:xfrm>
          <a:prstGeom prst="rect">
            <a:avLst/>
          </a:prstGeom>
          <a:solidFill>
            <a:srgbClr val="DEEAF6"/>
          </a:solidFill>
          <a:ln w="12700">
            <a:solidFill>
              <a:srgbClr val="8EAADB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370832" y="5212080"/>
            <a:ext cx="7452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link: </a:t>
            </a:r>
            <a:pPr indent="0" marL="0">
              <a:lnSpc>
                <a:spcPct val="102000"/>
              </a:lnSpc>
              <a:buNone/>
            </a:pPr>
            <a:r>
              <a:rPr lang="en-US" sz="115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github.com/&lt;your-username&gt;/transitmitra</a:t>
            </a:r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: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&lt;your-username&gt;.github.io/transitmitra</a:t>
            </a:r>
            <a:pPr indent="0" marL="0">
              <a:lnSpc>
                <a:spcPct val="102000"/>
              </a:lnSpc>
              <a:buNone/>
            </a:pP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video : </a:t>
            </a:r>
            <a:endParaRPr lang="en-US" sz="115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50" u="sng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4370832" y="6053328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60% of the prototype is completed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91440"/>
            <a:ext cx="1700784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9144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SafarMitra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5486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600" dirty="0"/>
          </a:p>
        </p:txBody>
      </p:sp>
      <p:pic>
        <p:nvPicPr>
          <p:cNvPr id="5" name="Image 0" descr="/tmp/sih2026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54864"/>
            <a:ext cx="1883664" cy="873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05256"/>
            <a:ext cx="12188952" cy="0"/>
          </a:xfrm>
          <a:prstGeom prst="line">
            <a:avLst/>
          </a:prstGeom>
          <a:noFill/>
          <a:ln w="19050">
            <a:solidFill>
              <a:srgbClr val="8EAA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9456" y="969264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9456" y="1335024"/>
            <a:ext cx="5532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Runs on the cheap entry-level Android phones tourists already carry.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Uses free peer-to-peer radios already in every phone — no new telecom towers, no spectrum licence.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Range extended by LoRa relay nodes costing only ₹300–500 each.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Hotels and homestays adopt the kiosk free of cost, giving ready distribution.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Proven research base: Delay-Tolerant Networking, MIT DakNet, KioskNet.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70448" y="941832"/>
            <a:ext cx="0" cy="260604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3328" y="969264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Feasibility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53328" y="1335024"/>
            <a:ext cx="5897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Market: rural and offbeat tourism is a fast-growing segment currently held back by network dead zones.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Near-zero running cost — the network is the phones travellers already own.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Revenue path: hotel subscriptions, State Tourism-department sponsorship of relay nodes.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readiness: working prototype today; 0–3 month pilot on a single tourist circuit.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to any off-grid belt by adding regional map and fare packs.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3584448"/>
            <a:ext cx="12188952" cy="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9456" y="3657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" y="4023360"/>
            <a:ext cx="5532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Sparse phone density — an SOS may wait for a carrier to pass.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Short BLE / Wi-Fi range in mountainous terrain.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Fake fare entries or spoofed SOS beacons.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Battery drain from continuous radio scanning.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Keeping offline data trustworthy across devices.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70448" y="3621024"/>
            <a:ext cx="0" cy="274320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53328" y="365760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053328" y="4023360"/>
            <a:ext cx="5897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Register buses and jeeps as scheduled “Mitra Carriers” and place LoRa relays at stops — a deterministic backbone instead of luck.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Honest best-effort delivery model; SOS augments, never replaces, official emergency services.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Hotel-verified fares plus post-ride traveller confirmation; AES-signed, rate-limited beacons.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Adaptive duty-cycling and low-power BLE advertising; bulk sync only at the kiosk.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CRDT conflict-free merge with tamper-evident sync across nodes.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91440"/>
            <a:ext cx="1700784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9144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SafarMitra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5486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600" dirty="0"/>
          </a:p>
        </p:txBody>
      </p:sp>
      <p:pic>
        <p:nvPicPr>
          <p:cNvPr id="5" name="Image 0" descr="/tmp/sih2026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54864"/>
            <a:ext cx="1883664" cy="873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05256"/>
            <a:ext cx="12188952" cy="0"/>
          </a:xfrm>
          <a:prstGeom prst="line">
            <a:avLst/>
          </a:prstGeom>
          <a:noFill/>
          <a:ln w="19050">
            <a:solidFill>
              <a:srgbClr val="8EAA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9456" y="9692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Impact on Target Users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9456" y="1335024"/>
            <a:ext cx="553212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Tourists &amp; solo travellers: confidence to explore off-grid, with fair fares and an offline safety net; language help to speak with locals.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Hotels, homestays &amp; eco-resorts: become the trusted network hub — a real reason for guests to book remote stays, raising footfall and revenue.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Informal transport operators: shared jeep, bus and auto drivers gain visible, verified demand and dignified, transparent pricing.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Women, families and first-time travellers: a safety net in areas they would otherwise avoid entirely.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70448" y="941832"/>
            <a:ext cx="0" cy="333756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3328" y="9692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&amp; Strategic Benefits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53328" y="1335024"/>
            <a:ext cx="5897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Channels tourism spending directly into the rural economy — hospitality and informal transport.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Requires zero new telecom infrastructure, so cost per additional village is negligible.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Ends the “tourist tax”: verified fares can save a traveller ₹200+ on a single shared-jeep ride.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Scales across states by adding regional map and fare packs — one app, every off-grid belt.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Encourages low-impact, distributed tourism away from overcrowded hotspots.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4352544"/>
            <a:ext cx="12188952" cy="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9456" y="4425696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Impact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" y="4773168"/>
            <a:ext cx="5532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Builds an indigenous, offline safety and mobility layer for Indian tourism that depends on no foreign infrastructure.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Directly supports Digital India, the Vibrant Villages Programme and Dekho Apna Desh.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Advances Atmanirbhar Bharat by turning existing phones and public transport into national digital infrastructure.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70448" y="4389120"/>
            <a:ext cx="0" cy="201168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53328" y="4425696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Environmental Benefits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053328" y="4773168"/>
            <a:ext cx="5897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Safer travel for women, families and solo tourists in low-connectivity regions.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Bridges language and culture between travellers and local communities.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Spreads tourist load away from crowded honeypot destinations, reducing local environmental strain.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" y="91440"/>
            <a:ext cx="1700784" cy="585216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74B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01168" y="91440"/>
            <a:ext cx="1700784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SafarMitra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2011680" y="5486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2600" b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Analysis</a:t>
            </a:r>
            <a:endParaRPr lang="en-US" sz="2600" dirty="0"/>
          </a:p>
        </p:txBody>
      </p:sp>
      <p:pic>
        <p:nvPicPr>
          <p:cNvPr id="5" name="Image 0" descr="/tmp/sih2026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76688" y="54864"/>
            <a:ext cx="1883664" cy="8732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0" y="905256"/>
            <a:ext cx="12188952" cy="0"/>
          </a:xfrm>
          <a:prstGeom prst="line">
            <a:avLst/>
          </a:prstGeom>
          <a:noFill/>
          <a:ln w="19050">
            <a:solidFill>
              <a:srgbClr val="8EAAD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0070C0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11430000" y="64922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19456" y="96926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&amp; Problem Identification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19456" y="1335024"/>
            <a:ext cx="55321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 stretches of India’s hill, forest and border tourist belts remain network dead zones, leaving travellers without maps or a way to call for help.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offline maps (e.g. Google Maps offline) carry no informal transit routes, no verified fares and no peer-to-peer safety layer.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Informal shared-jeep and auto fares are unpublished, so tourist overcharging is routine and undocumented.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870448" y="941832"/>
            <a:ext cx="0" cy="260604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053328" y="969264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 &amp; Benchmarking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053328" y="1335024"/>
            <a:ext cx="58978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Delay-Tolerant Networking and the Bundle Protocol (RFC 5050) — store-and-forward messaging over intermittent links.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DakNet (MIT Media Lab) and KioskNet — buses and kiosks proven as physical “data mules” bringing connectivity to rural villages.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Haggle and pocket-switched networking research — opportunistic phone-to-phone message relay.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Benchmark vs satellite SOS (iPhone 14+/Android): those need clear sky, premium handsets and paid plans; our mesh runs on cheap Android under tree cover.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0" y="3584448"/>
            <a:ext cx="12188952" cy="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19456" y="3657600"/>
            <a:ext cx="3291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Validation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19456" y="4023360"/>
            <a:ext cx="553212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Nearby Connections and Wi-Fi Aware are production Android APIs for offline peer-to-peer transport.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Meshtastic / LoRa provides low-cost, kilometre-range off-grid mesh radio.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On-device TTS (TensorFlow Lite, Piper) enables offline regional-language voice.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CRDTs give conflict-free merge of offline-edited fare and route data.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870448" y="3621024"/>
            <a:ext cx="0" cy="2743200"/>
          </a:xfrm>
          <a:prstGeom prst="line">
            <a:avLst/>
          </a:prstGeom>
          <a:noFill/>
          <a:ln w="15875">
            <a:solidFill>
              <a:srgbClr val="8EAAD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053328" y="365760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u="sng" dirty="0">
                <a:solidFill>
                  <a:srgbClr val="1F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Results &amp; Policy Alignment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053328" y="4023360"/>
            <a:ext cx="58978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Our working prototype demonstrates the full flow end-to-end: hotel-to-phone offline sync, offline fare lookup, and a multi-hop SOS relay reaching authorities.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Demo runs with zero internet connectivity, validating the offline-first architecture.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Aligns with Digital India, Vibrant Villages Programme, Dekho Apna Desh and Atmanirbhar Bharat.</a:t>
            </a:r>
            <a:endParaRPr lang="en-US" sz="1150" dirty="0"/>
          </a:p>
          <a:p>
            <a:pPr marL="177800" indent="-177800">
              <a:lnSpc>
                <a:spcPct val="94000"/>
              </a:lnSpc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Note: SOS relay is a best-effort augmentation, not a replacement for official emergency services.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TransitMitra - SIH 2026</dc:title>
  <dc:subject>PptxGenJS Presentation</dc:subject>
  <dc:creator>Team SafarMitra</dc:creator>
  <cp:lastModifiedBy>Team SafarMitra</cp:lastModifiedBy>
  <cp:revision>1</cp:revision>
  <dcterms:created xsi:type="dcterms:W3CDTF">2026-08-31T07:13:59Z</dcterms:created>
  <dcterms:modified xsi:type="dcterms:W3CDTF">2026-08-31T07:13:59Z</dcterms:modified>
</cp:coreProperties>
</file>